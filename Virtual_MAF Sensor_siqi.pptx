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9"/>
  </p:notesMasterIdLst>
  <p:handoutMasterIdLst>
    <p:handoutMasterId r:id="rId10"/>
  </p:handoutMasterIdLst>
  <p:sldIdLst>
    <p:sldId id="325" r:id="rId5"/>
    <p:sldId id="329" r:id="rId6"/>
    <p:sldId id="331" r:id="rId7"/>
    <p:sldId id="33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CB3F"/>
    <a:srgbClr val="FFFF99"/>
    <a:srgbClr val="595959"/>
    <a:srgbClr val="0070C0"/>
    <a:srgbClr val="2F55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FECB4D8-DB02-4DC6-A0A2-4F2EBAE1DC90}"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111" d="100"/>
          <a:sy n="111" d="100"/>
        </p:scale>
        <p:origin x="59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6" d="100"/>
          <a:sy n="56" d="100"/>
        </p:scale>
        <p:origin x="2856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URABH GUPTA" userId="7d2cbb34-1396-4dac-ab42-998ef5d8e720" providerId="ADAL" clId="{49A73A48-CA46-4445-9EB5-F10B0C26F553}"/>
    <pc:docChg chg="delSld">
      <pc:chgData name="SAURABH GUPTA" userId="7d2cbb34-1396-4dac-ab42-998ef5d8e720" providerId="ADAL" clId="{49A73A48-CA46-4445-9EB5-F10B0C26F553}" dt="2025-11-11T17:18:58.474" v="7" actId="47"/>
      <pc:docMkLst>
        <pc:docMk/>
      </pc:docMkLst>
      <pc:sldChg chg="del">
        <pc:chgData name="SAURABH GUPTA" userId="7d2cbb34-1396-4dac-ab42-998ef5d8e720" providerId="ADAL" clId="{49A73A48-CA46-4445-9EB5-F10B0C26F553}" dt="2025-11-11T17:18:58.474" v="7" actId="47"/>
        <pc:sldMkLst>
          <pc:docMk/>
          <pc:sldMk cId="1237399595" sldId="285"/>
        </pc:sldMkLst>
      </pc:sldChg>
      <pc:sldChg chg="del">
        <pc:chgData name="SAURABH GUPTA" userId="7d2cbb34-1396-4dac-ab42-998ef5d8e720" providerId="ADAL" clId="{49A73A48-CA46-4445-9EB5-F10B0C26F553}" dt="2025-11-11T17:18:33.473" v="0" actId="47"/>
        <pc:sldMkLst>
          <pc:docMk/>
          <pc:sldMk cId="1297109109" sldId="326"/>
        </pc:sldMkLst>
      </pc:sldChg>
      <pc:sldChg chg="del">
        <pc:chgData name="SAURABH GUPTA" userId="7d2cbb34-1396-4dac-ab42-998ef5d8e720" providerId="ADAL" clId="{49A73A48-CA46-4445-9EB5-F10B0C26F553}" dt="2025-11-11T17:18:34.491" v="1" actId="47"/>
        <pc:sldMkLst>
          <pc:docMk/>
          <pc:sldMk cId="441004359" sldId="327"/>
        </pc:sldMkLst>
      </pc:sldChg>
      <pc:sldChg chg="del">
        <pc:chgData name="SAURABH GUPTA" userId="7d2cbb34-1396-4dac-ab42-998ef5d8e720" providerId="ADAL" clId="{49A73A48-CA46-4445-9EB5-F10B0C26F553}" dt="2025-11-11T17:18:40.326" v="2" actId="47"/>
        <pc:sldMkLst>
          <pc:docMk/>
          <pc:sldMk cId="965852474" sldId="328"/>
        </pc:sldMkLst>
      </pc:sldChg>
      <pc:sldChg chg="del">
        <pc:chgData name="SAURABH GUPTA" userId="7d2cbb34-1396-4dac-ab42-998ef5d8e720" providerId="ADAL" clId="{49A73A48-CA46-4445-9EB5-F10B0C26F553}" dt="2025-11-11T17:18:48.036" v="3" actId="47"/>
        <pc:sldMkLst>
          <pc:docMk/>
          <pc:sldMk cId="292031112" sldId="330"/>
        </pc:sldMkLst>
      </pc:sldChg>
      <pc:sldChg chg="del">
        <pc:chgData name="SAURABH GUPTA" userId="7d2cbb34-1396-4dac-ab42-998ef5d8e720" providerId="ADAL" clId="{49A73A48-CA46-4445-9EB5-F10B0C26F553}" dt="2025-11-11T17:18:54.717" v="4" actId="47"/>
        <pc:sldMkLst>
          <pc:docMk/>
          <pc:sldMk cId="1425119566" sldId="333"/>
        </pc:sldMkLst>
      </pc:sldChg>
      <pc:sldChg chg="del">
        <pc:chgData name="SAURABH GUPTA" userId="7d2cbb34-1396-4dac-ab42-998ef5d8e720" providerId="ADAL" clId="{49A73A48-CA46-4445-9EB5-F10B0C26F553}" dt="2025-11-11T17:18:55.314" v="5" actId="47"/>
        <pc:sldMkLst>
          <pc:docMk/>
          <pc:sldMk cId="2282428315" sldId="334"/>
        </pc:sldMkLst>
      </pc:sldChg>
      <pc:sldChg chg="del">
        <pc:chgData name="SAURABH GUPTA" userId="7d2cbb34-1396-4dac-ab42-998ef5d8e720" providerId="ADAL" clId="{49A73A48-CA46-4445-9EB5-F10B0C26F553}" dt="2025-11-11T17:18:58.055" v="6" actId="47"/>
        <pc:sldMkLst>
          <pc:docMk/>
          <pc:sldMk cId="4220173254" sldId="33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8DC54E-EBFC-4ED4-B981-2305AF451FEF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ADBE88-8D77-4F0C-9478-89FFE3194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9076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34F02D-5FD0-471B-9C06-6C6894FC9EAC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785D6D-1976-4A3C-B6DA-A21E378702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082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644599" y="5210082"/>
            <a:ext cx="10515600" cy="521977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r>
              <a:rPr lang="en-US" dirty="0"/>
              <a:t>Click to edit Master title style – size 20</a:t>
            </a:r>
            <a:endParaRPr lang="en-IN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644525" y="6127750"/>
            <a:ext cx="5851810" cy="3524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>
                <a:latin typeface="Calibri" panose="020F050202020403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Presenter		| Version		|Date	- size 14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34409F-B6EA-432B-B07C-402D64C87507}"/>
              </a:ext>
            </a:extLst>
          </p:cNvPr>
          <p:cNvSpPr txBox="1"/>
          <p:nvPr userDrawn="1"/>
        </p:nvSpPr>
        <p:spPr>
          <a:xfrm>
            <a:off x="0" y="6617526"/>
            <a:ext cx="26981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b="1" dirty="0">
                <a:solidFill>
                  <a:schemeClr val="tx1"/>
                </a:solidFill>
                <a:latin typeface="Calibri" panose="020F0502020204030204" pitchFamily="34" charset="0"/>
              </a:rPr>
              <a:t>© Copyright, Confidential, Tata Motors Limited</a:t>
            </a:r>
          </a:p>
        </p:txBody>
      </p:sp>
    </p:spTree>
    <p:extLst>
      <p:ext uri="{BB962C8B-B14F-4D97-AF65-F5344CB8AC3E}">
        <p14:creationId xmlns:p14="http://schemas.microsoft.com/office/powerpoint/2010/main" val="36035595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 userDrawn="1"/>
        </p:nvSpPr>
        <p:spPr>
          <a:xfrm>
            <a:off x="0" y="6617526"/>
            <a:ext cx="26981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b="1" dirty="0">
                <a:solidFill>
                  <a:schemeClr val="tx1"/>
                </a:solidFill>
                <a:latin typeface="Calibri" panose="020F0502020204030204" pitchFamily="34" charset="0"/>
              </a:rPr>
              <a:t>© Copyright, Confidential, Tata Motors Limited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5674" y="6489834"/>
            <a:ext cx="515257" cy="365125"/>
          </a:xfrm>
          <a:prstGeom prst="rect">
            <a:avLst/>
          </a:prstGeom>
        </p:spPr>
        <p:txBody>
          <a:bodyPr anchor="b"/>
          <a:lstStyle>
            <a:lvl1pPr algn="ctr">
              <a:defRPr sz="1200" b="1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fld id="{68409969-7CA0-4DC3-8A33-DB447C2D1A20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628962C-7953-4376-99A9-419872281836}"/>
              </a:ext>
            </a:extLst>
          </p:cNvPr>
          <p:cNvCxnSpPr/>
          <p:nvPr userDrawn="1"/>
        </p:nvCxnSpPr>
        <p:spPr>
          <a:xfrm>
            <a:off x="566671" y="337393"/>
            <a:ext cx="1062507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itle 1">
            <a:extLst>
              <a:ext uri="{FF2B5EF4-FFF2-40B4-BE49-F238E27FC236}">
                <a16:creationId xmlns:a16="http://schemas.microsoft.com/office/drawing/2014/main" id="{208322B9-20FA-4997-BA0C-7510A041B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744" y="298064"/>
            <a:ext cx="10515600" cy="53538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>
                <a:solidFill>
                  <a:srgbClr val="595959"/>
                </a:solidFill>
                <a:latin typeface="+mj-lt"/>
                <a:cs typeface="Segoe UI Light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571258-71CF-4934-858E-04AD72D6CA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5760142"/>
            <a:ext cx="12187646" cy="53538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58694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5674" y="6489834"/>
            <a:ext cx="515257" cy="365125"/>
          </a:xfrm>
          <a:prstGeom prst="rect">
            <a:avLst/>
          </a:prstGeom>
        </p:spPr>
        <p:txBody>
          <a:bodyPr anchor="b"/>
          <a:lstStyle>
            <a:lvl1pPr algn="ctr">
              <a:defRPr sz="1200" b="1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fld id="{68409969-7CA0-4DC3-8A33-DB447C2D1A2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0" y="6617526"/>
            <a:ext cx="26981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b="1" dirty="0">
                <a:solidFill>
                  <a:schemeClr val="tx1"/>
                </a:solidFill>
                <a:latin typeface="Calibri" panose="020F0502020204030204" pitchFamily="34" charset="0"/>
              </a:rPr>
              <a:t>© Copyright, Confidential, Tata Motors Limited</a:t>
            </a:r>
          </a:p>
        </p:txBody>
      </p:sp>
      <p:sp>
        <p:nvSpPr>
          <p:cNvPr id="6" name="TextBox 5"/>
          <p:cNvSpPr txBox="1"/>
          <p:nvPr userDrawn="1"/>
        </p:nvSpPr>
        <p:spPr>
          <a:xfrm>
            <a:off x="3530221" y="2971800"/>
            <a:ext cx="5131558" cy="9144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IN" sz="28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12939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15062-FBD5-463A-9BF2-2B1F346AC2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274601-601E-4E73-AB7C-243C107AAC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50E5E-2B64-45AF-BD58-9F79E2A8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40DF4-B190-4875-BF05-29EA005ECA58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EDCE70-C610-409D-8C63-033AEE25C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4369BF-66EB-454B-B4C9-314681F5C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CECE9-05F2-4C13-8770-DEE987FBE5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1372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384DDD-C93B-4F54-8BFC-ECB2AC870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40DF4-B190-4875-BF05-29EA005ECA58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293369-BCAB-4CE5-8890-544995391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76C7ED-9623-4C01-BCC0-DB6922EC9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CECE9-05F2-4C13-8770-DEE987FBE5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2314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 userDrawn="1"/>
        </p:nvCxnSpPr>
        <p:spPr>
          <a:xfrm>
            <a:off x="223838" y="820738"/>
            <a:ext cx="11745249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0569315" y="206316"/>
            <a:ext cx="1451880" cy="437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315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8" r:id="rId3"/>
    <p:sldLayoutId id="2147483670" r:id="rId4"/>
    <p:sldLayoutId id="2147483671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7A58040-4FDA-48B2-BB93-C1B10B883F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3081" y="4355236"/>
            <a:ext cx="4786474" cy="1801658"/>
          </a:xfrm>
        </p:spPr>
        <p:txBody>
          <a:bodyPr anchor="ctr"/>
          <a:lstStyle/>
          <a:p>
            <a:pPr algn="l">
              <a:spcBef>
                <a:spcPct val="0"/>
              </a:spcBef>
            </a:pPr>
            <a:r>
              <a:rPr lang="en-IN" sz="2800" dirty="0" err="1">
                <a:latin typeface="Bodoni MT" panose="02070603080606020203" pitchFamily="18" charset="0"/>
                <a:ea typeface="+mj-ea"/>
                <a:cs typeface="+mj-cs"/>
              </a:rPr>
              <a:t>Nirav</a:t>
            </a:r>
            <a:r>
              <a:rPr lang="en-IN" sz="2800" dirty="0">
                <a:latin typeface="Bodoni MT" panose="02070603080606020203" pitchFamily="18" charset="0"/>
                <a:ea typeface="+mj-ea"/>
                <a:cs typeface="+mj-cs"/>
              </a:rPr>
              <a:t> </a:t>
            </a:r>
            <a:r>
              <a:rPr lang="en-IN" sz="2800" dirty="0" err="1">
                <a:latin typeface="Bodoni MT" panose="02070603080606020203" pitchFamily="18" charset="0"/>
                <a:ea typeface="+mj-ea"/>
                <a:cs typeface="+mj-cs"/>
              </a:rPr>
              <a:t>Sodha</a:t>
            </a:r>
            <a:endParaRPr lang="en-IN" sz="2800" dirty="0">
              <a:latin typeface="Bodoni MT" panose="02070603080606020203" pitchFamily="18" charset="0"/>
              <a:ea typeface="+mj-ea"/>
              <a:cs typeface="+mj-cs"/>
            </a:endParaRPr>
          </a:p>
          <a:p>
            <a:pPr algn="l">
              <a:spcBef>
                <a:spcPct val="0"/>
              </a:spcBef>
            </a:pPr>
            <a:r>
              <a:rPr lang="en-IN" sz="2800" dirty="0" err="1">
                <a:latin typeface="Bodoni MT" panose="02070603080606020203" pitchFamily="18" charset="0"/>
                <a:ea typeface="+mj-ea"/>
                <a:cs typeface="+mj-cs"/>
              </a:rPr>
              <a:t>Kaustubh</a:t>
            </a:r>
            <a:r>
              <a:rPr lang="en-IN" sz="2800" dirty="0">
                <a:latin typeface="Bodoni MT" panose="02070603080606020203" pitchFamily="18" charset="0"/>
                <a:ea typeface="+mj-ea"/>
                <a:cs typeface="+mj-cs"/>
              </a:rPr>
              <a:t> </a:t>
            </a:r>
            <a:r>
              <a:rPr lang="en-IN" sz="2800" dirty="0" err="1">
                <a:latin typeface="Bodoni MT" panose="02070603080606020203" pitchFamily="18" charset="0"/>
                <a:ea typeface="+mj-ea"/>
                <a:cs typeface="+mj-cs"/>
              </a:rPr>
              <a:t>Gaonkar</a:t>
            </a:r>
            <a:endParaRPr lang="en-IN" sz="2800" dirty="0">
              <a:latin typeface="Bodoni MT" panose="02070603080606020203" pitchFamily="18" charset="0"/>
              <a:ea typeface="+mj-ea"/>
              <a:cs typeface="+mj-cs"/>
            </a:endParaRPr>
          </a:p>
          <a:p>
            <a:pPr algn="l">
              <a:spcBef>
                <a:spcPct val="0"/>
              </a:spcBef>
            </a:pPr>
            <a:r>
              <a:rPr lang="en-IN" sz="2800" dirty="0">
                <a:latin typeface="Bodoni MT" panose="02070603080606020203" pitchFamily="18" charset="0"/>
                <a:ea typeface="+mj-ea"/>
                <a:cs typeface="+mj-cs"/>
              </a:rPr>
              <a:t>Saurabh Kumar Gupta 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36D317AB-D198-41EE-9F33-A723B0AFD5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0323" y="1222712"/>
            <a:ext cx="5715792" cy="2032000"/>
          </a:xfrm>
        </p:spPr>
        <p:txBody>
          <a:bodyPr/>
          <a:lstStyle/>
          <a:p>
            <a:r>
              <a:rPr lang="en-IN" sz="4800" dirty="0">
                <a:latin typeface="Bodoni MT" panose="02070603080606020203" pitchFamily="18" charset="0"/>
              </a:rPr>
              <a:t>Virtual Sensor</a:t>
            </a:r>
            <a:br>
              <a:rPr lang="en-IN" sz="4800" dirty="0">
                <a:latin typeface="Bodoni MT" panose="02070603080606020203" pitchFamily="18" charset="0"/>
              </a:rPr>
            </a:br>
            <a:r>
              <a:rPr lang="en-IN" sz="2400" dirty="0">
                <a:latin typeface="Bodoni MT" panose="02070603080606020203" pitchFamily="18" charset="0"/>
              </a:rPr>
              <a:t>Capability Demonstration on MAF Sensor: An Imagineering Project</a:t>
            </a:r>
            <a:endParaRPr lang="en-IN" sz="4800" dirty="0">
              <a:latin typeface="Bodoni MT" panose="02070603080606020203" pitchFamily="18" charset="0"/>
            </a:endParaRPr>
          </a:p>
        </p:txBody>
      </p:sp>
      <p:pic>
        <p:nvPicPr>
          <p:cNvPr id="1026" name="Picture 2" descr="Data, gadget, hologram projection, interactive, sensor, three dimensional,  virtual ic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592" y="1412068"/>
            <a:ext cx="4398208" cy="4398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0341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282AC7-B017-4F9C-B94D-81C5828A34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4264" y="956884"/>
            <a:ext cx="5295254" cy="5437515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2D061D34-C1DB-405D-B9C2-E3E9375E5C4A}"/>
              </a:ext>
            </a:extLst>
          </p:cNvPr>
          <p:cNvSpPr/>
          <p:nvPr/>
        </p:nvSpPr>
        <p:spPr>
          <a:xfrm>
            <a:off x="10066723" y="2488385"/>
            <a:ext cx="1013513" cy="35226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814F83-EB08-4F8B-A175-4EFE58E52DC9}"/>
              </a:ext>
            </a:extLst>
          </p:cNvPr>
          <p:cNvSpPr/>
          <p:nvPr/>
        </p:nvSpPr>
        <p:spPr>
          <a:xfrm>
            <a:off x="7482797" y="4266660"/>
            <a:ext cx="620603" cy="53678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7E03276-F253-498F-8189-4BCA2A88E2C9}"/>
              </a:ext>
            </a:extLst>
          </p:cNvPr>
          <p:cNvSpPr/>
          <p:nvPr/>
        </p:nvSpPr>
        <p:spPr>
          <a:xfrm>
            <a:off x="8108378" y="1637779"/>
            <a:ext cx="1013513" cy="35226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DDD991-DA3C-4343-9DDD-0AB4B4ABFFD3}"/>
              </a:ext>
            </a:extLst>
          </p:cNvPr>
          <p:cNvSpPr txBox="1"/>
          <p:nvPr/>
        </p:nvSpPr>
        <p:spPr>
          <a:xfrm>
            <a:off x="884314" y="1257296"/>
            <a:ext cx="465512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000" b="1" dirty="0"/>
              <a:t>Input Signals: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IN" dirty="0"/>
              <a:t>Ambient Temperature (T_IA) 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IN" dirty="0"/>
              <a:t>Ambient Pressure (P_IA)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IN" dirty="0"/>
              <a:t>Manifold Temperature (T_IM)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IN" dirty="0"/>
              <a:t>Manifold Pressure (P_IM)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IN" dirty="0"/>
              <a:t>EGR valve opening (%)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IN" dirty="0"/>
              <a:t>Engine Speed (N)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IN" dirty="0"/>
              <a:t>Engine Torque (T)</a:t>
            </a:r>
          </a:p>
          <a:p>
            <a:pPr lvl="1"/>
            <a:r>
              <a:rPr lang="en-IN" dirty="0"/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B8E98D-9803-4CF7-BF81-36095925E18A}"/>
              </a:ext>
            </a:extLst>
          </p:cNvPr>
          <p:cNvSpPr txBox="1"/>
          <p:nvPr/>
        </p:nvSpPr>
        <p:spPr>
          <a:xfrm>
            <a:off x="884314" y="4196500"/>
            <a:ext cx="359294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000" b="1" dirty="0"/>
              <a:t>Output/ Predicted Signal:</a:t>
            </a:r>
          </a:p>
          <a:p>
            <a:pPr lvl="1"/>
            <a:r>
              <a:rPr lang="en-IN" dirty="0"/>
              <a:t>1. Mass Airflow (HFM)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8E5B66-E138-497B-93C5-1E080CF4092C}"/>
              </a:ext>
            </a:extLst>
          </p:cNvPr>
          <p:cNvSpPr txBox="1"/>
          <p:nvPr/>
        </p:nvSpPr>
        <p:spPr>
          <a:xfrm>
            <a:off x="346093" y="355557"/>
            <a:ext cx="3186065" cy="397032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en-US"/>
            </a:defPPr>
            <a:lvl1pPr defTabSz="914400">
              <a:lnSpc>
                <a:spcPct val="90000"/>
              </a:lnSpc>
              <a:spcBef>
                <a:spcPct val="0"/>
              </a:spcBef>
              <a:buNone/>
              <a:defRPr sz="2200" b="1">
                <a:solidFill>
                  <a:srgbClr val="595959"/>
                </a:solidFill>
                <a:latin typeface="Calibri" panose="020F0502020204030204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en-IN" dirty="0"/>
              <a:t>Schematics of The Model </a:t>
            </a:r>
          </a:p>
        </p:txBody>
      </p:sp>
    </p:spTree>
    <p:extLst>
      <p:ext uri="{BB962C8B-B14F-4D97-AF65-F5344CB8AC3E}">
        <p14:creationId xmlns:p14="http://schemas.microsoft.com/office/powerpoint/2010/main" val="2833519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4AB6F9B-1AB8-477C-A6AE-4DD5EF4116FD}"/>
              </a:ext>
            </a:extLst>
          </p:cNvPr>
          <p:cNvSpPr txBox="1"/>
          <p:nvPr/>
        </p:nvSpPr>
        <p:spPr>
          <a:xfrm>
            <a:off x="238539" y="247236"/>
            <a:ext cx="12191999" cy="397032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en-US"/>
            </a:defPPr>
            <a:lvl1pPr defTabSz="914400">
              <a:lnSpc>
                <a:spcPct val="90000"/>
              </a:lnSpc>
              <a:spcBef>
                <a:spcPct val="0"/>
              </a:spcBef>
              <a:buNone/>
              <a:defRPr sz="2200" b="1">
                <a:solidFill>
                  <a:srgbClr val="595959"/>
                </a:solidFill>
                <a:latin typeface="Calibri" panose="020F0502020204030204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en-IN" dirty="0"/>
              <a:t>Results of 12L AVL Cruise Reference Engine – Training Accuracy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C0AD11-EA8F-4EC4-92CB-A99E1C89B99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56" t="3833" b="7745"/>
          <a:stretch/>
        </p:blipFill>
        <p:spPr>
          <a:xfrm>
            <a:off x="5742122" y="3045746"/>
            <a:ext cx="5372746" cy="280641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C27B478-A173-43BA-9936-D5334CBBCFF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630" t="3749" r="26413" b="8066"/>
          <a:stretch/>
        </p:blipFill>
        <p:spPr>
          <a:xfrm>
            <a:off x="410705" y="963222"/>
            <a:ext cx="5331417" cy="57333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15378E2-13BC-4629-A41E-828BB4281C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6589" y="998546"/>
            <a:ext cx="4228791" cy="2891578"/>
          </a:xfrm>
          <a:prstGeom prst="rect">
            <a:avLst/>
          </a:prstGeom>
        </p:spPr>
      </p:pic>
      <p:sp>
        <p:nvSpPr>
          <p:cNvPr id="3" name="Cloud 2"/>
          <p:cNvSpPr/>
          <p:nvPr/>
        </p:nvSpPr>
        <p:spPr>
          <a:xfrm>
            <a:off x="9461714" y="4441531"/>
            <a:ext cx="2239506" cy="2255003"/>
          </a:xfrm>
          <a:prstGeom prst="cloud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Prediction is very accurate across loads and speeds</a:t>
            </a:r>
          </a:p>
        </p:txBody>
      </p:sp>
    </p:spTree>
    <p:extLst>
      <p:ext uri="{BB962C8B-B14F-4D97-AF65-F5344CB8AC3E}">
        <p14:creationId xmlns:p14="http://schemas.microsoft.com/office/powerpoint/2010/main" val="1794449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4AB6F9B-1AB8-477C-A6AE-4DD5EF4116FD}"/>
              </a:ext>
            </a:extLst>
          </p:cNvPr>
          <p:cNvSpPr txBox="1"/>
          <p:nvPr/>
        </p:nvSpPr>
        <p:spPr>
          <a:xfrm>
            <a:off x="275569" y="350719"/>
            <a:ext cx="12192000" cy="397032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en-US"/>
            </a:defPPr>
            <a:lvl1pPr defTabSz="914400">
              <a:lnSpc>
                <a:spcPct val="90000"/>
              </a:lnSpc>
              <a:spcBef>
                <a:spcPct val="0"/>
              </a:spcBef>
              <a:buNone/>
              <a:defRPr sz="2200" b="1">
                <a:solidFill>
                  <a:srgbClr val="595959"/>
                </a:solidFill>
                <a:latin typeface="Calibri" panose="020F0502020204030204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en-IN" dirty="0"/>
              <a:t>Results of 12L AVL Cruise Reference Engine – Model Prediction Accuracy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8926FF-24E8-4055-94AD-438778CE88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1507" y="919623"/>
            <a:ext cx="4266825" cy="28424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F744B12-2B7C-468B-92F9-9A39EC4C09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569" y="919623"/>
            <a:ext cx="5553513" cy="28895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EFD29D5-452D-42DC-8E4F-835E0EA75A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569" y="3845733"/>
            <a:ext cx="5553513" cy="288951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EFC428A-9411-49AB-9FD6-B1E9C1228775}"/>
              </a:ext>
            </a:extLst>
          </p:cNvPr>
          <p:cNvSpPr txBox="1"/>
          <p:nvPr/>
        </p:nvSpPr>
        <p:spPr>
          <a:xfrm>
            <a:off x="6284286" y="3933972"/>
            <a:ext cx="4886757" cy="255389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2400" b="1" dirty="0"/>
              <a:t>Absolute Error:</a:t>
            </a:r>
          </a:p>
          <a:p>
            <a:pPr algn="ctr"/>
            <a:r>
              <a:rPr lang="en-IN" sz="2400" dirty="0"/>
              <a:t>MSE of predicted values: 16.8620</a:t>
            </a:r>
          </a:p>
          <a:p>
            <a:pPr algn="ctr"/>
            <a:r>
              <a:rPr lang="en-IN" sz="2400" dirty="0"/>
              <a:t>RMSE of predicted values: 4.1063</a:t>
            </a:r>
          </a:p>
          <a:p>
            <a:pPr algn="ctr"/>
            <a:endParaRPr lang="en-IN" sz="2400" b="1" dirty="0"/>
          </a:p>
          <a:p>
            <a:pPr algn="ctr"/>
            <a:r>
              <a:rPr lang="en-IN" sz="2400" b="1" dirty="0"/>
              <a:t>Maximum Percentage Error: 2.1%</a:t>
            </a:r>
          </a:p>
          <a:p>
            <a:pPr algn="ctr"/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379176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ata Motors">
      <a:dk1>
        <a:srgbClr val="171616"/>
      </a:dk1>
      <a:lt1>
        <a:sysClr val="window" lastClr="FFFFFF"/>
      </a:lt1>
      <a:dk2>
        <a:srgbClr val="44546A"/>
      </a:dk2>
      <a:lt2>
        <a:srgbClr val="AEABAB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noAutofit/>
      </a:bodyPr>
      <a:lstStyle>
        <a:defPPr marL="177800" indent="-177800">
          <a:buFont typeface="Arial" panose="020B0604020202020204" pitchFamily="34" charset="0"/>
          <a:buChar char="•"/>
          <a:defRPr sz="14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ML Template [Read-Only]" id="{1EFEB2AF-255A-4CC2-B40B-573B668A668B}" vid="{2829D805-B3BF-4DF1-9344-BDAD385B22B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Picture" ma:contentTypeID="0x010102003EACC341F932CE46AE4F25C50036BF49" ma:contentTypeVersion="7" ma:contentTypeDescription="Upload an image or a photograph." ma:contentTypeScope="" ma:versionID="2c315cf9110b9bdd888a75f3be8e5ce1">
  <xsd:schema xmlns:xsd="http://www.w3.org/2001/XMLSchema" xmlns:xs="http://www.w3.org/2001/XMLSchema" xmlns:p="http://schemas.microsoft.com/office/2006/metadata/properties" xmlns:ns1="http://schemas.microsoft.com/sharepoint/v3" xmlns:ns2="e10d6baf-5d51-4aee-b038-763b5763b311" xmlns:ns3="e4177c50-62ab-4234-98f7-95674f198403" targetNamespace="http://schemas.microsoft.com/office/2006/metadata/properties" ma:root="true" ma:fieldsID="d1084270a14fdd0591d2b52d2b967909" ns1:_="" ns2:_="" ns3:_="">
    <xsd:import namespace="http://schemas.microsoft.com/sharepoint/v3"/>
    <xsd:import namespace="e10d6baf-5d51-4aee-b038-763b5763b311"/>
    <xsd:import namespace="e4177c50-62ab-4234-98f7-95674f198403"/>
    <xsd:element name="properties">
      <xsd:complexType>
        <xsd:sequence>
          <xsd:element name="documentManagement">
            <xsd:complexType>
              <xsd:all>
                <xsd:element ref="ns1:ImageWidth" minOccurs="0"/>
                <xsd:element ref="ns1:ImageHeight" minOccurs="0"/>
                <xsd:element ref="ns1:ImageCreateDate" minOccurs="0"/>
                <xsd:element ref="ns1:Description" minOccurs="0"/>
                <xsd:element ref="ns1:ThumbnailExists" minOccurs="0"/>
                <xsd:element ref="ns1:PreviewExists" minOccurs="0"/>
                <xsd:element ref="ns1:AlternateThumbnailUrl" minOccurs="0"/>
                <xsd:element ref="ns2:SharedWithUsers" minOccurs="0"/>
                <xsd:element ref="ns2:SharingHintHash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ImageWidth" ma:index="11" nillable="true" ma:displayName="Picture Width" ma:internalName="ImageWidth" ma:readOnly="true">
      <xsd:simpleType>
        <xsd:restriction base="dms:Unknown"/>
      </xsd:simpleType>
    </xsd:element>
    <xsd:element name="ImageHeight" ma:index="12" nillable="true" ma:displayName="Picture Height" ma:internalName="ImageHeight" ma:readOnly="true">
      <xsd:simpleType>
        <xsd:restriction base="dms:Unknown"/>
      </xsd:simpleType>
    </xsd:element>
    <xsd:element name="ImageCreateDate" ma:index="13" nillable="true" ma:displayName="Date Picture Taken" ma:format="DateTime" ma:hidden="true" ma:internalName="ImageCreateDate">
      <xsd:simpleType>
        <xsd:restriction base="dms:DateTime"/>
      </xsd:simpleType>
    </xsd:element>
    <xsd:element name="Description" ma:index="14" nillable="true" ma:displayName="Description" ma:description="Used as alternative text for the picture." ma:hidden="true" ma:internalName="Description">
      <xsd:simpleType>
        <xsd:restriction base="dms:Note">
          <xsd:maxLength value="255"/>
        </xsd:restriction>
      </xsd:simpleType>
    </xsd:element>
    <xsd:element name="ThumbnailExists" ma:index="23" nillable="true" ma:displayName="Thumbnail Exists" ma:default="FALSE" ma:hidden="true" ma:internalName="ThumbnailExists" ma:readOnly="true">
      <xsd:simpleType>
        <xsd:restriction base="dms:Boolean"/>
      </xsd:simpleType>
    </xsd:element>
    <xsd:element name="PreviewExists" ma:index="24" nillable="true" ma:displayName="Preview Exists" ma:default="FALSE" ma:hidden="true" ma:internalName="PreviewExists" ma:readOnly="true">
      <xsd:simpleType>
        <xsd:restriction base="dms:Boolean"/>
      </xsd:simpleType>
    </xsd:element>
    <xsd:element name="AlternateThumbnailUrl" ma:index="25" nillable="true" ma:displayName="Preview Image URL" ma:format="Image" ma:hidden="true" ma:internalName="AlternateThumbnailUrl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0d6baf-5d51-4aee-b038-763b5763b311" elementFormDefault="qualified">
    <xsd:import namespace="http://schemas.microsoft.com/office/2006/documentManagement/types"/>
    <xsd:import namespace="http://schemas.microsoft.com/office/infopath/2007/PartnerControls"/>
    <xsd:element name="SharedWithUsers" ma:index="2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27" nillable="true" ma:displayName="Sharing Hint Hash" ma:internalName="SharingHintHash" ma:readOnly="true">
      <xsd:simpleType>
        <xsd:restriction base="dms:Text"/>
      </xsd:simpleType>
    </xsd:element>
    <xsd:element name="SharedWithDetails" ma:index="28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177c50-62ab-4234-98f7-95674f19840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2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3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31" nillable="true" ma:displayName="MediaServiceAutoTags" ma:internalName="MediaServiceAutoTags" ma:readOnly="true">
      <xsd:simpleType>
        <xsd:restriction base="dms:Text"/>
      </xsd:simpleType>
    </xsd:element>
    <xsd:element name="MediaServiceOCR" ma:index="3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8" ma:displayName="Title"/>
        <xsd:element ref="dc:subject" minOccurs="0" maxOccurs="1"/>
        <xsd:element ref="dc:description" minOccurs="0" maxOccurs="1"/>
        <xsd:element name="keywords" minOccurs="0" maxOccurs="1" type="xsd:string" ma:index="20" ma:displayName="Keywords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lternateThumbnailUrl xmlns="http://schemas.microsoft.com/sharepoint/v3">
      <Url xsi:nil="true"/>
      <Description xsi:nil="true"/>
    </AlternateThumbnailUrl>
    <ImageCreateDate xmlns="http://schemas.microsoft.com/sharepoint/v3" xsi:nil="true"/>
    <Description xmlns="http://schemas.microsoft.com/sharepoint/v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32202D8-0746-40A9-95EF-EB8280A2441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e10d6baf-5d51-4aee-b038-763b5763b311"/>
    <ds:schemaRef ds:uri="e4177c50-62ab-4234-98f7-95674f19840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8B5CD45-69E9-4078-8C5B-11737143BF35}">
  <ds:schemaRefs>
    <ds:schemaRef ds:uri="http://purl.org/dc/dcmitype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e10d6baf-5d51-4aee-b038-763b5763b311"/>
    <ds:schemaRef ds:uri="http://schemas.microsoft.com/sharepoint/v3"/>
    <ds:schemaRef ds:uri="http://purl.org/dc/terms/"/>
    <ds:schemaRef ds:uri="http://schemas.openxmlformats.org/package/2006/metadata/core-properties"/>
    <ds:schemaRef ds:uri="e4177c50-62ab-4234-98f7-95674f198403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A4062668-A426-47A1-9E50-AAFC5D73753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TML Template - Revised</Template>
  <TotalTime>503</TotalTime>
  <Words>131</Words>
  <Application>Microsoft Office PowerPoint</Application>
  <PresentationFormat>Widescreen</PresentationFormat>
  <Paragraphs>24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Bodoni MT</vt:lpstr>
      <vt:lpstr>Calibri</vt:lpstr>
      <vt:lpstr>Wingdings</vt:lpstr>
      <vt:lpstr>Office Theme</vt:lpstr>
      <vt:lpstr>Virtual Sensor Capability Demonstration on MAF Sensor: An Imagineering Project</vt:lpstr>
      <vt:lpstr>PowerPoint Presentation</vt:lpstr>
      <vt:lpstr>PowerPoint Presentation</vt:lpstr>
      <vt:lpstr>PowerPoint Presentation</vt:lpstr>
    </vt:vector>
  </TitlesOfParts>
  <Company>TML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TML new presentation template.pptx</dc:title>
  <dc:creator>SUVARNA JOSHI [ CORP, Communications, Mumbai ]</dc:creator>
  <cp:keywords>Futuready Template</cp:keywords>
  <cp:lastModifiedBy>SAURABH GUPTA</cp:lastModifiedBy>
  <cp:revision>73</cp:revision>
  <dcterms:created xsi:type="dcterms:W3CDTF">2019-09-13T05:53:15Z</dcterms:created>
  <dcterms:modified xsi:type="dcterms:W3CDTF">2025-11-11T17:19:01Z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0x010102003EACC341F932CE46AE4F25C50036BF49</vt:lpwstr>
  </property>
</Properties>
</file>